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2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B4B"/>
                </a:solidFill>
                <a:latin typeface="Malgun Gothic"/>
              </a:defRPr>
            </a:pPr>
            <a:r>
              <a:rPr sz="1300" b="0" i="0" u="none" strike="noStrike">
                <a:solidFill>
                  <a:srgbClr val="1B2B4B"/>
                </a:solidFill>
                <a:latin typeface="Malgun Gothic"/>
              </a:rPr>
              <a:t>달별 민원 수 (예시 DB 시연 설정)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민원 수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B4B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1월</c:v>
                  </c:pt>
                  <c:pt idx="1">
                    <c:v>2월</c:v>
                  </c:pt>
                  <c:pt idx="2">
                    <c:v>3월</c:v>
                  </c:pt>
                  <c:pt idx="3">
                    <c:v>4월</c:v>
                  </c:pt>
                  <c:pt idx="4">
                    <c:v>5월</c:v>
                  </c:pt>
                  <c:pt idx="5">
                    <c:v>6월</c:v>
                  </c:pt>
                  <c:pt idx="6">
                    <c:v>7월</c:v>
                  </c:pt>
                  <c:pt idx="7">
                    <c:v>8월</c:v>
                  </c:pt>
                  <c:pt idx="8">
                    <c:v>9월</c:v>
                  </c:pt>
                  <c:pt idx="9">
                    <c:v>10월</c:v>
                  </c:pt>
                  <c:pt idx="10">
                    <c:v>11월</c:v>
                  </c:pt>
                  <c:pt idx="11">
                    <c:v>12월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</c:v>
                </c:pt>
                <c:pt idx="1">
                  <c:v>7</c:v>
                </c:pt>
                <c:pt idx="2">
                  <c:v>11</c:v>
                </c:pt>
                <c:pt idx="3">
                  <c:v>5</c:v>
                </c:pt>
                <c:pt idx="4">
                  <c:v>5</c:v>
                </c:pt>
                <c:pt idx="5">
                  <c:v>8</c:v>
                </c:pt>
                <c:pt idx="6">
                  <c:v>8</c:v>
                </c:pt>
                <c:pt idx="7">
                  <c:v>5</c:v>
                </c:pt>
                <c:pt idx="8">
                  <c:v>9</c:v>
                </c:pt>
                <c:pt idx="9">
                  <c:v>5</c:v>
                </c:pt>
                <c:pt idx="10">
                  <c:v>5</c:v>
                </c:pt>
                <c:pt idx="11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B4B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D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D9DE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D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처리 끝</c:v>
                </c:pt>
              </c:strCache>
            </c:strRef>
          </c:tx>
          <c:spPr>
            <a:solidFill>
              <a:srgbClr val="2F9E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교무기획부</c:v>
                  </c:pt>
                  <c:pt idx="1">
                    <c:v>교수학습지원부</c:v>
                  </c:pt>
                  <c:pt idx="2">
                    <c:v>학생생활안전부</c:v>
                  </c:pt>
                  <c:pt idx="3">
                    <c:v>행정실</c:v>
                  </c:pt>
                  <c:pt idx="4">
                    <c:v>급식실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7</c:v>
                </c:pt>
                <c:pt idx="2">
                  <c:v>5</c:v>
                </c:pt>
                <c:pt idx="3">
                  <c:v>6</c:v>
                </c:pt>
                <c:pt idx="4">
                  <c:v>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진행 중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교무기획부</c:v>
                  </c:pt>
                  <c:pt idx="1">
                    <c:v>교수학습지원부</c:v>
                  </c:pt>
                  <c:pt idx="2">
                    <c:v>학생생활안전부</c:v>
                  </c:pt>
                  <c:pt idx="3">
                    <c:v>행정실</c:v>
                  </c:pt>
                  <c:pt idx="4">
                    <c:v>급식실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4</c:v>
                </c:pt>
                <c:pt idx="2">
                  <c:v>3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기한 초과</c:v>
                </c:pt>
              </c:strCache>
            </c:strRef>
          </c:tx>
          <c:spPr>
            <a:solidFill>
              <a:srgbClr val="C845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Malgun Gothic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교무기획부</c:v>
                  </c:pt>
                  <c:pt idx="1">
                    <c:v>교수학습지원부</c:v>
                  </c:pt>
                  <c:pt idx="2">
                    <c:v>학생생활안전부</c:v>
                  </c:pt>
                  <c:pt idx="3">
                    <c:v>행정실</c:v>
                  </c:pt>
                  <c:pt idx="4">
                    <c:v>급식실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Malgun Gothic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7D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F6B7D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한 건이 처리되는 흐름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입력부터 저장까지 한 번에 지나가고, 판정은 규칙이 하고 근거는 매뉴얼에서만 가져옵니다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207008" cy="150876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50976" y="1847088"/>
            <a:ext cx="402336" cy="40233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50976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3774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71576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폼 ·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773936" y="2441448"/>
            <a:ext cx="146304" cy="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938528" y="1691640"/>
            <a:ext cx="1207008" cy="150876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40864" y="1847088"/>
            <a:ext cx="402336" cy="40233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40864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938528" y="23774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마스킹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984248" y="271576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전화·주민·메일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163824" y="2441448"/>
            <a:ext cx="146304" cy="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328416" y="1691640"/>
            <a:ext cx="1207008" cy="150876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0752" y="1847088"/>
            <a:ext cx="402336" cy="40233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30752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328416" y="23774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순화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374136" y="271576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거친 표현 가림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53712" y="2441448"/>
            <a:ext cx="146304" cy="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718304" y="1691640"/>
            <a:ext cx="1207008" cy="150876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1847088"/>
            <a:ext cx="402336" cy="40233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0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4718304" y="23774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조회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764024" y="271576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학생·유사도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943600" y="2441448"/>
            <a:ext cx="146304" cy="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08192" y="1691640"/>
            <a:ext cx="1207008" cy="150876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10528" y="1847088"/>
            <a:ext cx="402336" cy="402336"/>
          </a:xfrm>
          <a:prstGeom prst="ellipse">
            <a:avLst/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10528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108192" y="23774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판정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6153912" y="271576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 · 특이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33488" y="2441448"/>
            <a:ext cx="146304" cy="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7498080" y="1691640"/>
            <a:ext cx="1207008" cy="150876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00416" y="1847088"/>
            <a:ext cx="402336" cy="40233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900416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23774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검색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543800" y="271576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 색인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723376" y="2441448"/>
            <a:ext cx="146304" cy="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8887968" y="1691640"/>
            <a:ext cx="1207008" cy="150876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290304" y="1847088"/>
            <a:ext cx="402336" cy="40233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290304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8887968" y="23774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루프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8933688" y="271576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3바퀴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0113264" y="2441448"/>
            <a:ext cx="146304" cy="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277856" y="1691640"/>
            <a:ext cx="1207008" cy="150876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680192" y="1847088"/>
            <a:ext cx="402336" cy="402336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680192" y="18470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10277856" y="2377440"/>
            <a:ext cx="12070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저장·화면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10323576" y="2715768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· 상세 · PDF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35204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세 갈래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548640" y="39319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BF0DC"/>
          </a:solidFill>
          <a:ln w="9525">
            <a:solidFill>
              <a:srgbClr val="FBF0D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77240" y="41148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77240" y="41148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거부·종결 가능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2651760" y="4114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REJECTABLE</a:t>
            </a:r>
            <a:endParaRPr lang="en-US" sz="1100" dirty="0"/>
          </a:p>
        </p:txBody>
      </p:sp>
      <p:sp>
        <p:nvSpPr>
          <p:cNvPr id="57" name="Text 55"/>
          <p:cNvSpPr txBox="1"/>
          <p:nvPr/>
        </p:nvSpPr>
        <p:spPr>
          <a:xfrm>
            <a:off x="777240" y="4572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교직원 개인 연락처 요구, 업무시간 외, 20분 초과, 3회 이상 반복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777240" y="5230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사유를 민원인에게 통지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297680" y="39319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E0F2E9"/>
          </a:solidFill>
          <a:ln w="9525">
            <a:solidFill>
              <a:srgbClr val="E0F2E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26280" y="41148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4526280" y="41148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처리</a:t>
            </a:r>
            <a:endParaRPr lang="en-US" sz="1200" dirty="0"/>
          </a:p>
        </p:txBody>
      </p:sp>
      <p:sp>
        <p:nvSpPr>
          <p:cNvPr id="62" name="Text 60"/>
          <p:cNvSpPr txBox="1"/>
          <p:nvPr/>
        </p:nvSpPr>
        <p:spPr>
          <a:xfrm>
            <a:off x="6400800" y="4114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HANDLE</a:t>
            </a:r>
            <a:endParaRPr lang="en-US" sz="1100" dirty="0"/>
          </a:p>
        </p:txBody>
      </p:sp>
      <p:sp>
        <p:nvSpPr>
          <p:cNvPr id="63" name="Text 61"/>
          <p:cNvSpPr txBox="1"/>
          <p:nvPr/>
        </p:nvSpPr>
        <p:spPr>
          <a:xfrm>
            <a:off x="4526280" y="4572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부서와 처리 기한을 정해 처리</a:t>
            </a:r>
            <a:endParaRPr lang="en-US" sz="1300" dirty="0"/>
          </a:p>
        </p:txBody>
      </p:sp>
      <p:sp>
        <p:nvSpPr>
          <p:cNvPr id="64" name="Text 62"/>
          <p:cNvSpPr txBox="1"/>
          <p:nvPr/>
        </p:nvSpPr>
        <p:spPr>
          <a:xfrm>
            <a:off x="4526280" y="5230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9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담당자 문의 · 답변 초안 · 담임 전달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8046720" y="3931920"/>
            <a:ext cx="3566160" cy="1828800"/>
          </a:xfrm>
          <a:prstGeom prst="roundRect">
            <a:avLst>
              <a:gd name="adj" fmla="val 5000"/>
            </a:avLst>
          </a:prstGeom>
          <a:solidFill>
            <a:srgbClr val="F9E3E0"/>
          </a:solidFill>
          <a:ln w="9525">
            <a:solidFill>
              <a:srgbClr val="F9E3E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275320" y="4114800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8275320" y="41148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특이 민원 의심</a:t>
            </a:r>
            <a:endParaRPr lang="en-US" sz="1200" dirty="0"/>
          </a:p>
        </p:txBody>
      </p:sp>
      <p:sp>
        <p:nvSpPr>
          <p:cNvPr id="68" name="Text 66"/>
          <p:cNvSpPr txBox="1"/>
          <p:nvPr/>
        </p:nvSpPr>
        <p:spPr>
          <a:xfrm>
            <a:off x="10149840" y="4114800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ESCALATE</a:t>
            </a:r>
            <a:endParaRPr lang="en-US" sz="1100" dirty="0"/>
          </a:p>
        </p:txBody>
      </p:sp>
      <p:sp>
        <p:nvSpPr>
          <p:cNvPr id="69" name="Text 67"/>
          <p:cNvSpPr txBox="1"/>
          <p:nvPr/>
        </p:nvSpPr>
        <p:spPr>
          <a:xfrm>
            <a:off x="8275320" y="45720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폭언·협박·폭행 등 심각도 3 이상, 특이 반복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8275320" y="5230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45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교육(지원)청 이첩 보고서 초안</a:t>
            </a:r>
            <a:endParaRPr lang="en-US" sz="1300" dirty="0"/>
          </a:p>
        </p:txBody>
      </p:sp>
      <p:sp>
        <p:nvSpPr>
          <p:cNvPr id="71" name="Text 69"/>
          <p:cNvSpPr txBox="1"/>
          <p:nvPr/>
        </p:nvSpPr>
        <p:spPr>
          <a:xfrm>
            <a:off x="548640" y="60350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판정은 후보 제시용입니다. 최종 판단은 학교장(민원대응팀)이 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판정하고, 근거는 매뉴얼 PDF에서만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선택 사항이며 규칙이 잡은 판정을 뒤집지 못합니다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근거가 붙는 길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E6EAF2"/>
          </a:solidFill>
          <a:ln w="9525">
            <a:solidFill>
              <a:srgbClr val="E6EA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0116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원문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57400" y="2651760"/>
            <a:ext cx="0" cy="201168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2852928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FBF0DC"/>
          </a:solidFill>
          <a:ln w="9525">
            <a:solidFill>
              <a:srgbClr val="FBF0D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8529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rules.py 규칙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(정규식)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057400" y="3493008"/>
            <a:ext cx="0" cy="201168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694176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E1F2F2"/>
          </a:solidFill>
          <a:ln w="9525">
            <a:solidFill>
              <a:srgbClr val="E1F2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69417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규칙의 anchor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(매뉴얼 문구)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57400" y="4334256"/>
            <a:ext cx="0" cy="201168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" y="4535424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E0F2E9"/>
          </a:solidFill>
          <a:ln w="9525">
            <a:solidFill>
              <a:srgbClr val="E0F2E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453542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9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 색인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2F9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BM25 검색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057400" y="5175504"/>
            <a:ext cx="0" cy="201168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5376672"/>
            <a:ext cx="3017520" cy="640080"/>
          </a:xfrm>
          <a:prstGeom prst="roundRect">
            <a:avLst>
              <a:gd name="adj" fmla="val 14286"/>
            </a:avLst>
          </a:prstGeom>
          <a:solidFill>
            <a:srgbClr val="F9E3E0"/>
          </a:solidFill>
          <a:ln w="9525">
            <a:solidFill>
              <a:srgbClr val="F9E3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537667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5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E1 · E2 …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C845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 번호 포함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840480" y="210312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근거는 판정 뒤에 붙는 해설입니다.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문장 위에 마우스를 올리면 매뉴얼 문장이 말풍선으로 보입니다.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0" y="3840480"/>
            <a:ext cx="24688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77640" y="39319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E1  교직원 개인의 휴대전화 또는 SNS로 민원을 제기하는 경우…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76656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하는 일 (선택)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766560" y="2011680"/>
            <a:ext cx="4892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03720" y="216712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03720" y="21671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498080" y="2084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특이 여부 2차 의견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23957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규칙이 놓친 것을 후보로만 추가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2880360"/>
            <a:ext cx="4892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303580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03720" y="3035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29535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초안 + 담당자 참고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3264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초안은 마크다운 없이 바로 복사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766560" y="3749040"/>
            <a:ext cx="4892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03720" y="390448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03720" y="39044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498080" y="38221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순화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41330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요구는 두고 거친 표현만 교체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766560" y="4617720"/>
            <a:ext cx="4892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03720" y="477316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903720" y="47731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498080" y="46908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 평가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498080" y="50017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쌍을 3번 평가한 중앙값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766560" y="5532120"/>
            <a:ext cx="4892040" cy="685800"/>
          </a:xfrm>
          <a:prstGeom prst="roundRect">
            <a:avLst>
              <a:gd name="adj" fmla="val 13333"/>
            </a:avLst>
          </a:prstGeom>
          <a:solidFill>
            <a:srgbClr val="1B2B4B"/>
          </a:solidFill>
          <a:ln w="9525">
            <a:solidFill>
              <a:srgbClr val="1B2B4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949440" y="5532120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없으면 규칙 기반으로 그대로 동작합니다.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존재하지 않는 근거 번호를 대면 초안을 버립니다.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① 민원 목록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처리할 일을 숫자로 먼저 보여 주고, 누르면 목록이 걸러집니다 (화면 구성 예시)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06424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554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목록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784080" y="1682496"/>
            <a:ext cx="1645920" cy="292608"/>
          </a:xfrm>
          <a:prstGeom prst="roundRect">
            <a:avLst>
              <a:gd name="adj" fmla="val 53125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784080" y="168249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＋ 새 민원 입력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228600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2487168"/>
            <a:ext cx="201168" cy="201168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80160" y="2395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중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누르면 목록 필터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228600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0" y="2487168"/>
            <a:ext cx="201168" cy="201168"/>
          </a:xfrm>
          <a:prstGeom prst="ellipse">
            <a:avLst/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977640" y="2395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 초과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0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누르면 목록 필터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228600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487168"/>
            <a:ext cx="201168" cy="20116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2395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담임 전달 대기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누르면 목록 필터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869680" y="2286000"/>
            <a:ext cx="2514600" cy="960120"/>
          </a:xfrm>
          <a:prstGeom prst="roundRect">
            <a:avLst>
              <a:gd name="adj" fmla="val 9524"/>
            </a:avLst>
          </a:prstGeom>
          <a:solidFill>
            <a:srgbClr val="F5F7FA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2487168"/>
            <a:ext cx="201168" cy="201168"/>
          </a:xfrm>
          <a:prstGeom prst="ellipse">
            <a:avLst/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372600" y="23957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가정통신문 전달 필요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052560" y="28163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누르면 목록 필터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77240" y="342900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상태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331720" y="342900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33172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886200" y="342900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88620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40680" y="342900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44068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긴급도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995160" y="342900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9516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담임 전달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549640" y="342900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4964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0104120" y="342900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10104120" y="34290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 초과만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77240" y="4023360"/>
            <a:ext cx="10652760" cy="384048"/>
          </a:xfrm>
          <a:prstGeom prst="rect">
            <a:avLst/>
          </a:prstGeom>
          <a:solidFill>
            <a:srgbClr val="E6EAF2"/>
          </a:solidFill>
          <a:ln w="12700">
            <a:solidFill>
              <a:srgbClr val="E6EAF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77240" y="40233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#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1463040" y="40233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요약(순화문)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6949440" y="4023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8412480" y="40233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10149840" y="40233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777240" y="4901184"/>
            <a:ext cx="10652760" cy="0"/>
          </a:xfrm>
          <a:prstGeom prst="line">
            <a:avLst/>
          </a:prstGeom>
          <a:noFill/>
          <a:ln w="6350">
            <a:solidFill>
              <a:srgbClr val="D9DEE6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77240" y="44805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170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1463040" y="44805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달 급식 식단표는 어디서 볼 수 있나요?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6949440" y="4526280"/>
            <a:ext cx="1280160" cy="274320"/>
          </a:xfrm>
          <a:prstGeom prst="roundRect">
            <a:avLst>
              <a:gd name="adj" fmla="val 56667"/>
            </a:avLst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49440" y="4526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처리</a:t>
            </a:r>
            <a:endParaRPr lang="en-US" sz="1100" dirty="0"/>
          </a:p>
        </p:txBody>
      </p:sp>
      <p:sp>
        <p:nvSpPr>
          <p:cNvPr id="52" name="Text 50"/>
          <p:cNvSpPr txBox="1"/>
          <p:nvPr/>
        </p:nvSpPr>
        <p:spPr>
          <a:xfrm>
            <a:off x="8412480" y="44805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급식실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10149840" y="44805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777240" y="5358384"/>
            <a:ext cx="10652760" cy="0"/>
          </a:xfrm>
          <a:prstGeom prst="line">
            <a:avLst/>
          </a:prstGeom>
          <a:noFill/>
          <a:ln w="6350">
            <a:solidFill>
              <a:srgbClr val="D9DEE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77240" y="49377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169</a:t>
            </a:r>
            <a:endParaRPr lang="en-US" sz="1300" dirty="0"/>
          </a:p>
        </p:txBody>
      </p:sp>
      <p:sp>
        <p:nvSpPr>
          <p:cNvPr id="56" name="Text 54"/>
          <p:cNvSpPr txBox="1"/>
          <p:nvPr/>
        </p:nvSpPr>
        <p:spPr>
          <a:xfrm>
            <a:off x="1463040" y="49377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체육 선생님이 우리 애를 차별합니다. [부적절한 표현]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6949440" y="4983480"/>
            <a:ext cx="1280160" cy="274320"/>
          </a:xfrm>
          <a:prstGeom prst="roundRect">
            <a:avLst>
              <a:gd name="adj" fmla="val 56667"/>
            </a:avLst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6949440" y="4983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특이 민원 의심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8412480" y="4937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학년부</a:t>
            </a:r>
            <a:endParaRPr lang="en-US" sz="1300" dirty="0"/>
          </a:p>
        </p:txBody>
      </p:sp>
      <p:sp>
        <p:nvSpPr>
          <p:cNvPr id="60" name="Text 58"/>
          <p:cNvSpPr txBox="1"/>
          <p:nvPr/>
        </p:nvSpPr>
        <p:spPr>
          <a:xfrm>
            <a:off x="10149840" y="49377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중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77240" y="5815584"/>
            <a:ext cx="10652760" cy="0"/>
          </a:xfrm>
          <a:prstGeom prst="line">
            <a:avLst/>
          </a:prstGeom>
          <a:noFill/>
          <a:ln w="6350">
            <a:solidFill>
              <a:srgbClr val="D9DEE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77240" y="53949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154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1463040" y="53949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수행평가 점수 이의 신청을 또 하고 싶습니다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6949440" y="5440680"/>
            <a:ext cx="1280160" cy="274320"/>
          </a:xfrm>
          <a:prstGeom prst="roundRect">
            <a:avLst>
              <a:gd name="adj" fmla="val 56667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949440" y="54406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거부·종결 가능</a:t>
            </a:r>
            <a:endParaRPr lang="en-US" sz="1100" dirty="0"/>
          </a:p>
        </p:txBody>
      </p:sp>
      <p:sp>
        <p:nvSpPr>
          <p:cNvPr id="66" name="Text 64"/>
          <p:cNvSpPr txBox="1"/>
          <p:nvPr/>
        </p:nvSpPr>
        <p:spPr>
          <a:xfrm>
            <a:off x="8412480" y="53949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교수학습지원부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10149840" y="53949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이첩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777240" y="6272784"/>
            <a:ext cx="10652760" cy="0"/>
          </a:xfrm>
          <a:prstGeom prst="line">
            <a:avLst/>
          </a:prstGeom>
          <a:noFill/>
          <a:ln w="6350">
            <a:solidFill>
              <a:srgbClr val="D9DEE6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777240" y="58521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146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1463040" y="585216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교실 에어컨이 고장 났습니다. 수리해 주세요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6949440" y="5897880"/>
            <a:ext cx="1280160" cy="274320"/>
          </a:xfrm>
          <a:prstGeom prst="roundRect">
            <a:avLst>
              <a:gd name="adj" fmla="val 56667"/>
            </a:avLst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6949440" y="58978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처리</a:t>
            </a:r>
            <a:endParaRPr lang="en-US" sz="1100" dirty="0"/>
          </a:p>
        </p:txBody>
      </p:sp>
      <p:sp>
        <p:nvSpPr>
          <p:cNvPr id="73" name="Text 71"/>
          <p:cNvSpPr txBox="1"/>
          <p:nvPr/>
        </p:nvSpPr>
        <p:spPr>
          <a:xfrm>
            <a:off x="8412480" y="58521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행정실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10149840" y="5852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45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2일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② 민원 상세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왼쪽은 읽고 보낼 것, 오른쪽은 처리에 필요한 정보입니다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943600" cy="1097280"/>
          </a:xfrm>
          <a:prstGeom prst="roundRect">
            <a:avLst>
              <a:gd name="adj" fmla="val 8333"/>
            </a:avLst>
          </a:prstGeom>
          <a:solidFill>
            <a:srgbClr val="E6EAF2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내용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순화문을 크게 · 원문은 [원문 보기]에 접어 둠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16352"/>
            <a:ext cx="5943600" cy="914400"/>
          </a:xfrm>
          <a:prstGeom prst="roundRect">
            <a:avLst>
              <a:gd name="adj" fmla="val 10000"/>
            </a:avLst>
          </a:prstGeom>
          <a:solidFill>
            <a:srgbClr val="FBF0DC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29535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참고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31927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참고 + 검토 루프 지적 (있을 때만)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895344"/>
            <a:ext cx="5943600" cy="1371600"/>
          </a:xfrm>
          <a:prstGeom prst="roundRect">
            <a:avLst>
              <a:gd name="adj" fmla="val 6667"/>
            </a:avLst>
          </a:prstGeom>
          <a:solidFill>
            <a:srgbClr val="E1F2F2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4032504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초안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398264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그대로 복사해 보낼 글 · [복사] 버튼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431536"/>
            <a:ext cx="5943600" cy="1097280"/>
          </a:xfrm>
          <a:prstGeom prst="roundRect">
            <a:avLst>
              <a:gd name="adj" fmla="val 8333"/>
            </a:avLst>
          </a:prstGeom>
          <a:solidFill>
            <a:srgbClr val="F5F7FA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556869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 자료 (접힘)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934456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할 일 · 분류 사유 · 처리 경과 · 검토 기록 · 매뉴얼 근거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6560" y="1554480"/>
            <a:ext cx="4892040" cy="731520"/>
          </a:xfrm>
          <a:prstGeom prst="roundRect">
            <a:avLst>
              <a:gd name="adj" fmla="val 12500"/>
            </a:avLst>
          </a:prstGeom>
          <a:solidFill>
            <a:srgbClr val="1B2B4B"/>
          </a:solidFill>
          <a:ln w="9525">
            <a:solidFill>
              <a:srgbClr val="1B2B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949440" y="1554480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· 긴급도 · 담당 부서 · 처리 기한(D-n)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2441448"/>
            <a:ext cx="4892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2441448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상태 — 상태 · 처리자 · 메모 기록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66560" y="3328416"/>
            <a:ext cx="4892040" cy="731520"/>
          </a:xfrm>
          <a:prstGeom prst="roundRect">
            <a:avLst>
              <a:gd name="adj" fmla="val 12500"/>
            </a:avLst>
          </a:prstGeom>
          <a:solidFill>
            <a:srgbClr val="F9E3E0"/>
          </a:solidFill>
          <a:ln w="9525">
            <a:solidFill>
              <a:srgbClr val="F9E3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3328416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45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상위기관 이첩 — 특이 민원 의심일 때만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766560" y="4215384"/>
            <a:ext cx="4892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4215384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이력 — 반복 패턴 한 줄 + 이전 민원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66560" y="5102352"/>
            <a:ext cx="489204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949440" y="5102352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담임 교사 전달 — 해당 민원일 때만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897880"/>
            <a:ext cx="5943600" cy="457200"/>
          </a:xfrm>
          <a:prstGeom prst="roundRect">
            <a:avLst>
              <a:gd name="adj" fmla="val 20000"/>
            </a:avLst>
          </a:prstGeom>
          <a:solidFill>
            <a:srgbClr val="1B2B4B"/>
          </a:solidFill>
          <a:ln w="9525">
            <a:solidFill>
              <a:srgbClr val="1B2B4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31520" y="58978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E1 같은 근거 번호에 마우스를 올리면 매뉴얼 문장이 말풍선으로 나옵니다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상태와 기한 관리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변경은 처리자와 시각과 함께 경과에 남습니다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1463040" cy="9144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423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분류 직후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520440" y="2423160"/>
            <a:ext cx="1463040" cy="91440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24231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중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337560" y="3383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확인·전달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783080"/>
            <a:ext cx="1463040" cy="914400"/>
          </a:xfrm>
          <a:prstGeom prst="ellipse">
            <a:avLst/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178308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126480" y="2743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시각 기록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98280" y="3063240"/>
            <a:ext cx="1463040" cy="914400"/>
          </a:xfrm>
          <a:prstGeom prst="ellipse">
            <a:avLst/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98280" y="30632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이첩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8915400" y="4023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상위기관 이첩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40280" y="2880360"/>
            <a:ext cx="1234440" cy="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V="1">
            <a:off x="5029200" y="2286000"/>
            <a:ext cx="1280160" cy="45720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029200" y="3017520"/>
            <a:ext cx="1280160" cy="50292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6400800" y="4343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열면 완료 시각이 지워집니다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709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 표시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166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D-3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5623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일수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37560" y="512064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20440" y="5166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마감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3520440" y="5623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마감일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512064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09360" y="5166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45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2일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6309360" y="5623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기한 초과로 집계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15400" y="5120640"/>
            <a:ext cx="260604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098280" y="5166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9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4일 걸림</a:t>
            </a:r>
            <a:endParaRPr lang="en-US" sz="2000" dirty="0"/>
          </a:p>
        </p:txBody>
      </p:sp>
      <p:sp>
        <p:nvSpPr>
          <p:cNvPr id="33" name="Text 31"/>
          <p:cNvSpPr txBox="1"/>
          <p:nvPr/>
        </p:nvSpPr>
        <p:spPr>
          <a:xfrm>
            <a:off x="9098280" y="5623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건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126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'7일 이내'는 7일, '즉시'는 1일로 계산합니다(임의 기준).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억울한 특이 분류를 막는 반복 판정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비슷한 민원이 3번 왔다는 이유만으로는 특이이 아닙니다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반복민원 K를 세는 4단계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669280" cy="640080"/>
          </a:xfrm>
          <a:prstGeom prst="roundRect">
            <a:avLst>
              <a:gd name="adj" fmla="val 14286"/>
            </a:avLst>
          </a:prstGeom>
          <a:solidFill>
            <a:srgbClr val="1B2B4B"/>
          </a:solidFill>
          <a:ln w="12700">
            <a:solidFill>
              <a:srgbClr val="1B2B4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01168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학생의 과거 민원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78892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3B5280"/>
          </a:solidFill>
          <a:ln w="12700">
            <a:solidFill>
              <a:srgbClr val="3B528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2788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아직 해결되지 않은 것 (접수 · 처리 중)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188720" y="3566160"/>
            <a:ext cx="4389120" cy="640080"/>
          </a:xfrm>
          <a:prstGeom prst="roundRect">
            <a:avLst>
              <a:gd name="adj" fmla="val 14286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325880" y="35661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특이 민원 특성이 있는 것 (심각도 3 이상 + 확신 규칙)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508760" y="4343400"/>
            <a:ext cx="3749040" cy="640080"/>
          </a:xfrm>
          <a:prstGeom prst="roundRect">
            <a:avLst>
              <a:gd name="adj" fmla="val 14286"/>
            </a:avLst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645920" y="43434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이번 민원과 유사도 ≥ 임계값 (0.8)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5669280" cy="1005840"/>
          </a:xfrm>
          <a:prstGeom prst="roundRect">
            <a:avLst>
              <a:gd name="adj" fmla="val 9091"/>
            </a:avLst>
          </a:prstGeom>
          <a:solidFill>
            <a:srgbClr val="F9E3E0"/>
          </a:solidFill>
          <a:ln w="9525">
            <a:solidFill>
              <a:srgbClr val="F9E3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52578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45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 + 이번 민원 ≥ 3건 이면 특이 민원 의심(ESCALATE)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7150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문의를 반복한 경우는 특이이 아니라 '종결 가능'으로만 처리합니다.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유사도는 이렇게 잽니다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83680" y="2011680"/>
            <a:ext cx="50749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21031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있으면: 같은 쌍을 3번 평가 → 중앙값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없으면: 낱말 겹침(자카드)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임계값 0.8은 임의 시작값 (환경 변수로 조정)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밖의 이력 판단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83680" y="4023360"/>
            <a:ext cx="50749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66560" y="40233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종결 직후 재연락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4023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거부 가능 (사람 확인)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4736592"/>
            <a:ext cx="50749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4736592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특이 1건 / 2건 이상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0" y="473659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재접촉 1차 / 2차 대응 안내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83680" y="5449824"/>
            <a:ext cx="50749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66560" y="5449824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+ 현재도 특이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144000" y="5449824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출입·면담 제한 검토 안내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6583680" y="6172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 사용자는 보호자가 아니라 학생(이름 + 학년반)입니다.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루프: 판정은 두고, 약한 곳만 찾아 보강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 직후 최대 3바퀴 · 분기·긴급도·담당은 바꾸지 않습니다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E1F2F2"/>
          </a:solidFill>
          <a:ln w="9525">
            <a:solidFill>
              <a:srgbClr val="E1F2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1바퀴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03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점검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점검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0008" y="2240280"/>
            <a:ext cx="146304" cy="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514600" y="169164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51460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2바퀴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103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재검색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5968" y="2240280"/>
            <a:ext cx="146304" cy="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80560" y="1691640"/>
            <a:ext cx="178308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80560" y="17373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3바퀴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103120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재검색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2926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약한 근거가 없거나 더 나은 근거를 못 찾으면 일찍 멈춥니다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3832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판정 ↔ 이력 모순 점검 (규칙 기반)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3794760"/>
            <a:ext cx="310896" cy="31089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794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79476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미상인데 특이 민원 의심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270248"/>
            <a:ext cx="310896" cy="31089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270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427024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유사도가 임계값 바로 아래인 미해결 민원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745736"/>
            <a:ext cx="310896" cy="31089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48640" y="47457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005840" y="474573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특이 민원 특성 반복이 이번까지 2회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221224"/>
            <a:ext cx="310896" cy="31089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48640" y="52212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522122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 특이 이력이 있는데 일반 처리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48640" y="5696712"/>
            <a:ext cx="310896" cy="31089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5696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" y="569671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종결 직후 재연락인데 일반 처리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6751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근거 충분성 점검과 보강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675120" y="2011680"/>
            <a:ext cx="4983480" cy="658368"/>
          </a:xfrm>
          <a:prstGeom prst="roundRect">
            <a:avLst>
              <a:gd name="adj" fmla="val 13889"/>
            </a:avLst>
          </a:prstGeom>
          <a:solidFill>
            <a:srgbClr val="E6EAF2"/>
          </a:solidFill>
          <a:ln w="9525">
            <a:solidFill>
              <a:srgbClr val="E6EA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0" y="2011680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 문구와 근거 문장이 얼마나 겹치는지 계산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9144000" y="2670048"/>
            <a:ext cx="0" cy="146304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675120" y="2816352"/>
            <a:ext cx="4983480" cy="658368"/>
          </a:xfrm>
          <a:prstGeom prst="roundRect">
            <a:avLst>
              <a:gd name="adj" fmla="val 13889"/>
            </a:avLst>
          </a:prstGeom>
          <a:solidFill>
            <a:srgbClr val="FBF0DC"/>
          </a:solidFill>
          <a:ln w="9525">
            <a:solidFill>
              <a:srgbClr val="FBF0D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0" y="2816352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0.35 미만이면 '약한 근거'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144000" y="3474720"/>
            <a:ext cx="0" cy="146304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6675120" y="3621024"/>
            <a:ext cx="4983480" cy="658368"/>
          </a:xfrm>
          <a:prstGeom prst="roundRect">
            <a:avLst>
              <a:gd name="adj" fmla="val 13889"/>
            </a:avLst>
          </a:prstGeom>
          <a:solidFill>
            <a:srgbClr val="E1F2F2"/>
          </a:solidFill>
          <a:ln w="9525">
            <a:solidFill>
              <a:srgbClr val="E1F2F2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858000" y="3621024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재검색 — LLM이 검색어 제안 / 없으면 규칙이 문구를 쪼갬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9144000" y="4279392"/>
            <a:ext cx="0" cy="146304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675120" y="4425696"/>
            <a:ext cx="4983480" cy="658368"/>
          </a:xfrm>
          <a:prstGeom prst="roundRect">
            <a:avLst>
              <a:gd name="adj" fmla="val 13889"/>
            </a:avLst>
          </a:prstGeom>
          <a:solidFill>
            <a:srgbClr val="E0F2E9"/>
          </a:solidFill>
          <a:ln w="9525">
            <a:solidFill>
              <a:srgbClr val="E0F2E9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58000" y="4425696"/>
            <a:ext cx="4663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잘 맞는 문장만 근거에 추가 ('검토에서 보강')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6675120" y="5349240"/>
            <a:ext cx="4983480" cy="914400"/>
          </a:xfrm>
          <a:prstGeom prst="roundRect">
            <a:avLst>
              <a:gd name="adj" fmla="val 10000"/>
            </a:avLst>
          </a:prstGeom>
          <a:solidFill>
            <a:srgbClr val="1B2B4B"/>
          </a:solidFill>
          <a:ln w="9525">
            <a:solidFill>
              <a:srgbClr val="1B2B4B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858000" y="53492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담당자 참고 카드에 지적 사항 · 사람 확인 표시 · 접힌 '검토 기록'에 바퀴별 내용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 부서 자동 분류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부서마다 업무 설명과 키워드가 있고, 걸린 키워드가 가장 많은 부서를 고릅니다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64592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교무기획부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64592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64592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교수학습지원부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17720" y="164592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고교학점제운영부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164592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164592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학생생활안전부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42316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교육정보부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60320" y="242316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606040" y="242316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창의진로상담부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242316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617720" y="242316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인문사회교육부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242316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629400" y="242316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자연과학교육부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20040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예체능교육부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60320" y="320040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606040" y="320040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320040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17720" y="320040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보건실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83680" y="3200400"/>
            <a:ext cx="1874520" cy="621792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29400" y="3200400"/>
            <a:ext cx="1783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급식실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학년부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48640" y="448056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FBF0DC"/>
          </a:solidFill>
          <a:ln w="9525">
            <a:solidFill>
              <a:srgbClr val="FBF0DC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44805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1학년부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2560320" y="448056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FBF0DC"/>
          </a:solidFill>
          <a:ln w="9525">
            <a:solidFill>
              <a:srgbClr val="FBF0D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560320" y="44805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2학년부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0" y="4480560"/>
            <a:ext cx="1874520" cy="566928"/>
          </a:xfrm>
          <a:prstGeom prst="roundRect">
            <a:avLst>
              <a:gd name="adj" fmla="val 16129"/>
            </a:avLst>
          </a:prstGeom>
          <a:solidFill>
            <a:srgbClr val="FBF0DC"/>
          </a:solidFill>
          <a:ln w="9525">
            <a:solidFill>
              <a:srgbClr val="FBF0DC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0" y="4480560"/>
            <a:ext cx="1874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3학년부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1663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언행·담임·학급 운영 민원은 학생의 학년에 맞는 학년부로 갑니다. 다른 부서 업무면 그 부서가 담당이고 학년부는 참고로만 남습니다.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7782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방법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8778240" y="2011680"/>
            <a:ext cx="2880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15400" y="2194560"/>
            <a:ext cx="411480" cy="4114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9154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9464040" y="20116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부서별로 민원에 걸린 키워드를 센다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778240" y="2926080"/>
            <a:ext cx="2880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915400" y="3108960"/>
            <a:ext cx="411480" cy="4114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91540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9464040" y="2926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많은 부서를 선택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778240" y="3840480"/>
            <a:ext cx="2880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915400" y="4023360"/>
            <a:ext cx="411480" cy="4114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91540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9464040" y="38404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동점이면 안전·성적 우선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8778240" y="4754880"/>
            <a:ext cx="28803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915400" y="4937760"/>
            <a:ext cx="411480" cy="41148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915400" y="4937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9464040" y="47548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걸린 말이 없으면 미분류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548640" y="5943600"/>
            <a:ext cx="7863840" cy="411480"/>
          </a:xfrm>
          <a:prstGeom prst="roundRect">
            <a:avLst>
              <a:gd name="adj" fmla="val 22222"/>
            </a:avLst>
          </a:prstGeom>
          <a:solidFill>
            <a:srgbClr val="1B2B4B"/>
          </a:solidFill>
          <a:ln w="9525">
            <a:solidFill>
              <a:srgbClr val="1B2B4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31520" y="59436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정답을 정한 98개 문장으로 키워드를 매번 검증합니다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민원대응팀이 지금 할 일 · 담임 교사 전달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내용을 읽어 누구에게 무엇을 물어볼지 정리합니다 (권장 안내이며 매뉴얼 규정은 아님)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→ 할 일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8521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116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국어 수행평가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0116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국어 교과 교사에게 평가 기준·점수 근거 문의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58521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6060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출결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514600" y="26060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담임 교사에게 확인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00400"/>
            <a:ext cx="58521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200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따돌림·폭력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514600" y="32004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담임·생활지도 교사 확인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58521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7947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급식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514600" y="37947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영양(교)사 확인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89120"/>
            <a:ext cx="58521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389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시설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514600" y="438912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행정실 확인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58521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983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진로·진학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514600" y="498348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교무부 상담 연결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577840"/>
            <a:ext cx="58521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31520" y="557784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교사 태도 불만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514600" y="5577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교사 확인 · 교감 보고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98932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맨 위에 담당자 문의, 맨 아래에 민원인 회신이 들어갑니다. 지금 할 일에는 근거 번호를 붙이지 않습니다.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담임 교사 전달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766560" y="2011680"/>
            <a:ext cx="4892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03720" y="2203704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903720" y="2203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49808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전달문 생성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498080" y="243230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받는 사람 · 요약 · 필요한 행동 3가지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114032" y="2834640"/>
            <a:ext cx="0" cy="128016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766560" y="2971800"/>
            <a:ext cx="4892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903720" y="3163824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903720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7498080" y="3063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복사해서 발송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498080" y="33924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프로그램이 직접 보내지는 않음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114032" y="3794760"/>
            <a:ext cx="0" cy="128016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766560" y="3931920"/>
            <a:ext cx="4892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903720" y="4123944"/>
            <a:ext cx="420624" cy="420624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6903720" y="41239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749808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[전달함으로 표시]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498080" y="43525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 시각 기록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114032" y="4754880"/>
            <a:ext cx="0" cy="128016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6766560" y="4892040"/>
            <a:ext cx="489204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903720" y="5084064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903720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7498080" y="4983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상태가 접수 → 처리 중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7498080" y="53126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목록에 전달 대기 / 완료로 집계</a:t>
            </a:r>
            <a:endParaRPr lang="en-US" sz="1200" dirty="0"/>
          </a:p>
        </p:txBody>
      </p:sp>
      <p:sp>
        <p:nvSpPr>
          <p:cNvPr id="52" name="Text 50"/>
          <p:cNvSpPr txBox="1"/>
          <p:nvPr/>
        </p:nvSpPr>
        <p:spPr>
          <a:xfrm>
            <a:off x="6766560" y="58978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일반 처리 + 사실 확인이 필요한 민원 (특이·거부 가능은 제외)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순화와 개인정보 보호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담당자에게는 순화문을 먼저 보여 주고, 판정은 항상 원문으로 합니다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F9E3E0"/>
          </a:solidFill>
          <a:ln w="9525">
            <a:solidFill>
              <a:srgbClr val="F9E3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8453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담임 때문에 우리 애가 학교 가기 싫대요!! 이런 무능한 교사는 자격 없어요, 가만 안 둔다.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54680" y="3218688"/>
            <a:ext cx="0" cy="393192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48640" y="3630168"/>
            <a:ext cx="5212080" cy="1600200"/>
          </a:xfrm>
          <a:prstGeom prst="roundRect">
            <a:avLst>
              <a:gd name="adj" fmla="val 5714"/>
            </a:avLst>
          </a:prstGeom>
          <a:solidFill>
            <a:srgbClr val="E0F2E9"/>
          </a:solidFill>
          <a:ln w="9525">
            <a:solidFill>
              <a:srgbClr val="E0F2E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721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9E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순화문 (기본 화면)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04164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담임 때문에 우리 애가 학교 가기 싫대요!! [부적절한 표현]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4068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없으면 거친 표현만 규칙으로 가립니다. 원문은 [원문 보기]에서만 보이고 열람 기록은 남기지 않습니다(팀 결정).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마스킹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309360" y="2011680"/>
            <a:ext cx="53492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011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010-1234-5678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915400" y="2295144"/>
            <a:ext cx="411480" cy="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9464040" y="20116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[전화번호]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2697480"/>
            <a:ext cx="53492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2697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901010-1234567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915400" y="2980944"/>
            <a:ext cx="411480" cy="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9464040" y="26974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[주민번호]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309360" y="3383280"/>
            <a:ext cx="534924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33832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abc@school.kr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915400" y="3666744"/>
            <a:ext cx="411480" cy="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9464040" y="338328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[이메일]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4160520"/>
            <a:ext cx="5349240" cy="822960"/>
          </a:xfrm>
          <a:prstGeom prst="roundRect">
            <a:avLst>
              <a:gd name="adj" fmla="val 11111"/>
            </a:avLst>
          </a:prstGeom>
          <a:solidFill>
            <a:srgbClr val="FBF0DC"/>
          </a:solidFill>
          <a:ln w="9525">
            <a:solidFill>
              <a:srgbClr val="FBF0D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4160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이름은 마스킹하지 않기로 했습니다(팀 결정). LLM을 외부 서비스로 연결하면 이름이 전송되니 개인정보 처리 기준을 먼저 확인하세요.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5166360"/>
            <a:ext cx="5349240" cy="512064"/>
          </a:xfrm>
          <a:prstGeom prst="roundRect">
            <a:avLst>
              <a:gd name="adj" fmla="val 17857"/>
            </a:avLst>
          </a:prstGeom>
          <a:solidFill>
            <a:srgbClr val="E6EAF2"/>
          </a:solidFill>
          <a:ln w="9525">
            <a:solidFill>
              <a:srgbClr val="E6EA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92240" y="5166360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· 표시 · LLM 전송은 마스킹된 원문만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5788152"/>
            <a:ext cx="5349240" cy="512064"/>
          </a:xfrm>
          <a:prstGeom prst="roundRect">
            <a:avLst>
              <a:gd name="adj" fmla="val 17857"/>
            </a:avLst>
          </a:prstGeom>
          <a:solidFill>
            <a:srgbClr val="E6EAF2"/>
          </a:solidFill>
          <a:ln w="9525">
            <a:solidFill>
              <a:srgbClr val="E6EAF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2240" y="5788152"/>
            <a:ext cx="5029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이첩 보고서에는 원문 그대로 (마스킹만)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상위기관 이첩 보고서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매뉴얼 12쪽 이첩 기준으로 판단하고, 55쪽 서식을 한글 파일(.hwpx)로 채웁니다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이첩 기준 5가지 (자동 판단)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60350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11680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 이상 반복 · 종료 후에도 지속, 또는 위력 행사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2167128"/>
            <a:ext cx="1920240" cy="365760"/>
          </a:xfrm>
          <a:prstGeom prst="roundRect">
            <a:avLst>
              <a:gd name="adj" fmla="val 42500"/>
            </a:avLst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216712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/ 해당 가능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816352"/>
            <a:ext cx="60350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816352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퇴거명령·민원 제한 불응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26280" y="2971800"/>
            <a:ext cx="1920240" cy="365760"/>
          </a:xfrm>
          <a:prstGeom prst="roundRect">
            <a:avLst>
              <a:gd name="adj" fmla="val 42500"/>
            </a:avLst>
          </a:prstGeom>
          <a:solidFill>
            <a:srgbClr val="5F6B7D"/>
          </a:solidFill>
          <a:ln w="12700">
            <a:solidFill>
              <a:srgbClr val="5F6B7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26280" y="2971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21024"/>
            <a:ext cx="60350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621024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처벌이 가능할 정도의 중대한 위법 행위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26280" y="3776472"/>
            <a:ext cx="1920240" cy="365760"/>
          </a:xfrm>
          <a:prstGeom prst="roundRect">
            <a:avLst>
              <a:gd name="adj" fmla="val 42500"/>
            </a:avLst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37764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/ 해당 가능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425696"/>
            <a:ext cx="60350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425696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분쟁조정·법률지원 후에도 해결 불가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4581144"/>
            <a:ext cx="1920240" cy="365760"/>
          </a:xfrm>
          <a:prstGeom prst="roundRect">
            <a:avLst>
              <a:gd name="adj" fmla="val 42500"/>
            </a:avLst>
          </a:prstGeom>
          <a:solidFill>
            <a:srgbClr val="5F6B7D"/>
          </a:solidFill>
          <a:ln w="12700">
            <a:solidFill>
              <a:srgbClr val="5F6B7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26280" y="458114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230368"/>
            <a:ext cx="60350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5230368"/>
            <a:ext cx="3657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교육활동에 심각한 지장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26280" y="5385816"/>
            <a:ext cx="1920240" cy="365760"/>
          </a:xfrm>
          <a:prstGeom prst="roundRect">
            <a:avLst>
              <a:gd name="adj" fmla="val 425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538581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 가능 / 확인 필요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08076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'확인 필요'는 학교 기록이 있어야 알 수 있어 담당자가 확인합니다.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만들기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949440" y="2011680"/>
            <a:ext cx="47091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86600" y="221284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86600" y="22128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7680960" y="2103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서식 파일을 열어 빈칸만 채움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680960" y="2450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표·글꼴·안내 문구는 그대로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949440" y="2971800"/>
            <a:ext cx="47091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86600" y="317296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86600" y="3172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3063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적는 칸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680960" y="34107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제기대상 · 학생 · 민원 처리 내용 · 이첩 사유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49440" y="3931920"/>
            <a:ext cx="4709160" cy="822960"/>
          </a:xfrm>
          <a:prstGeom prst="roundRect">
            <a:avLst>
              <a:gd name="adj" fmla="val 11111"/>
            </a:avLst>
          </a:prstGeom>
          <a:solidFill>
            <a:srgbClr val="FBF0DC"/>
          </a:solidFill>
          <a:ln w="9525">
            <a:solidFill>
              <a:srgbClr val="FBF0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086600" y="413308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086600" y="4133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7680960" y="4023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담당자가 직접 적는 칸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680960" y="437083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학교명 · 보호자 성명·연락처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949440" y="4892040"/>
            <a:ext cx="47091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86600" y="5093208"/>
            <a:ext cx="420624" cy="420624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086600" y="5093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680960" y="4983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내려받기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7680960" y="53309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화면의 [이첩 보고서 내려받기]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949440" y="5897880"/>
            <a:ext cx="4709160" cy="457200"/>
          </a:xfrm>
          <a:prstGeom prst="roundRect">
            <a:avLst>
              <a:gd name="adj" fmla="val 20000"/>
            </a:avLst>
          </a:prstGeom>
          <a:solidFill>
            <a:srgbClr val="1B2B4B"/>
          </a:solidFill>
          <a:ln w="9525">
            <a:solidFill>
              <a:srgbClr val="1B2B4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132320" y="58978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초안이며 학교장 확인 후 제출합니다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분석: 시즌 키워드와 가정통신문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해마다 같은 달에 늘어나는 민원을 찾아 미리 안내합니다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76072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685800" y="173736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89788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3월 학사일정, 6~7월 성적·방학처럼 달마다 주제를 정해 만든 가짜 데이터입니다.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시즌 키워드란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196596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접수의 35% 이상이 한 달에 몰림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5건 이상 나온 키워드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같이 늘어나는 키워드는 상관계수 0.6 이상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3154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가정통신문 계획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675120" y="3566160"/>
            <a:ext cx="1463040" cy="365760"/>
          </a:xfrm>
          <a:prstGeom prst="roundRect">
            <a:avLst>
              <a:gd name="adj" fmla="val 42500"/>
            </a:avLst>
          </a:prstGeom>
          <a:solidFill>
            <a:srgbClr val="C8453C"/>
          </a:solidFill>
          <a:ln w="12700">
            <a:solidFill>
              <a:srgbClr val="C8453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 필요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275320" y="3566160"/>
            <a:ext cx="1463040" cy="365760"/>
          </a:xfrm>
          <a:prstGeom prst="roundRect">
            <a:avLst>
              <a:gd name="adj" fmla="val 42500"/>
            </a:avLst>
          </a:prstGeom>
          <a:solidFill>
            <a:srgbClr val="2F9E6E"/>
          </a:solidFill>
          <a:ln w="12700">
            <a:solidFill>
              <a:srgbClr val="2F9E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7532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전달함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875520" y="3566160"/>
            <a:ext cx="1463040" cy="365760"/>
          </a:xfrm>
          <a:prstGeom prst="roundRect">
            <a:avLst>
              <a:gd name="adj" fmla="val 42500"/>
            </a:avLst>
          </a:prstGeom>
          <a:solidFill>
            <a:srgbClr val="5F6B7D"/>
          </a:solidFill>
          <a:ln w="12700">
            <a:solidFill>
              <a:srgbClr val="5F6B7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875520" y="3566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40690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늘어나는 달 1일의 14일 전부터 그 달 말일까지가 전달 시기입니다. [전달함으로 표시]로 기록합니다.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675120" y="4937760"/>
            <a:ext cx="4983480" cy="1188720"/>
          </a:xfrm>
          <a:prstGeom prst="roundRect">
            <a:avLst>
              <a:gd name="adj" fmla="val 7692"/>
            </a:avLst>
          </a:prstGeom>
          <a:solidFill>
            <a:srgbClr val="E1F2F2"/>
          </a:solidFill>
          <a:ln w="9525">
            <a:solidFill>
              <a:srgbClr val="E1F2F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0" y="493776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연동: 지금이 전달 시기인 주제의 민원에는 '가정통신문 ○○을 답변에 함께 안내'가 지금 할 일에 붙습니다.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부서별 현황 · 학사일정 답변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탭의 부서 지표와, 일정 문의에 날짜로 답하는 초안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탭: 부서별 민원 현황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6692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640080" y="2103120"/>
          <a:ext cx="54864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548640" y="5074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숫자는 화면 구성을 설명하는 예시입니다.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5440680"/>
            <a:ext cx="5669280" cy="868680"/>
          </a:xfrm>
          <a:prstGeom prst="roundRect">
            <a:avLst>
              <a:gd name="adj" fmla="val 10526"/>
            </a:avLst>
          </a:prstGeom>
          <a:solidFill>
            <a:srgbClr val="FBF0DC"/>
          </a:solidFill>
          <a:ln w="9525">
            <a:solidFill>
              <a:srgbClr val="FBF0D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4406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개선을 검토할 부서: 기한 초과 20%, 진행 중 60%, 반복 30% 등 기준을 넘으면 이유와 함께 표시 (임의 시작값)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1600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학사일정 문의 (나이스 API)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675120" y="2011680"/>
            <a:ext cx="4983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12280" y="237744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122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21214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감지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452360" y="24688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말 + 질문 표현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다음 주 체험학습 일정 궁금합니다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40880" y="3200400"/>
            <a:ext cx="0" cy="18288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6675120" y="3383280"/>
            <a:ext cx="4983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12280" y="374904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122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452360" y="34930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조회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452360" y="38404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기간은 민원에서 읽음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학년반이 있으면 그 학년 행사만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040880" y="4572000"/>
            <a:ext cx="0" cy="182880"/>
          </a:xfrm>
          <a:prstGeom prst="line">
            <a:avLst/>
          </a:prstGeom>
          <a:noFill/>
          <a:ln w="22225">
            <a:solidFill>
              <a:srgbClr val="5F6B7D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6675120" y="4754880"/>
            <a:ext cx="4983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12280" y="5120640"/>
            <a:ext cx="457200" cy="45720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12280" y="5120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7452360" y="486460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초안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452360" y="52120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응답의 날짜만 사용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LLM은 날짜를 만들지 않음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675120" y="612648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키가 없거나 일정이 없으면 일반 초안과 이유를 보여 줍니다.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초안과 공식 창구 전제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사이트가 공식 접수 창구이므로 '다른 경로로 접수하세요'는 쓰지 않습니다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초안이 나오는 방식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8521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103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있으면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5059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JSON으로 답변 · 담당자 참고 · 근거를 받아 나눔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58521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06324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기호 제거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107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**, ++, #, [E1], '근거:' 줄을 지워 바로 복사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8521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023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37083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 근거 번호를 대면 초안을 버리고 기본 문구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58521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983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창구 정보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33095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 02-1234-5678 · 평일 08:00~17:00 · 온라인 24시간 접수 (예시 값)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창구 전제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766560" y="2011680"/>
            <a:ext cx="48920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2103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거부 사유 (업무시간 외 등)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사유를 통지만 합니다. 공식 창구 안내 없음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8803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6A1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교직원 개인 번호·카톡을 묻는 글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거부 가능 + 공식 창구로 문의하라고 안내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766560" y="3794760"/>
            <a:ext cx="4892040" cy="2423160"/>
          </a:xfrm>
          <a:prstGeom prst="roundRect">
            <a:avLst>
              <a:gd name="adj" fmla="val 3774"/>
            </a:avLst>
          </a:prstGeom>
          <a:solidFill>
            <a:srgbClr val="E6EAF2"/>
          </a:solidFill>
          <a:ln w="9525">
            <a:solidFill>
              <a:srgbClr val="E6EA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49440" y="38862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담당자 참고 카드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49440" y="42976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LLM이 쓴 참고 문장과 검토 루프의 지적이 초안 위 별도 카드로 나옵니다. 보내는 글에는 섞이지 않습니다.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949440" y="5349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답변 초안에는 근거 번호가 없습니다.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 구조와 운영 방식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SQLAlchemy 기반이라 주소만 바꾸면 SQL DB로 옮길 수 있습니다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11247120" y="64465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테이블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8521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01168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students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71800" y="20116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대상 학생 (이름 + 학년반 3자리)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58521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7889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complaints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971800" y="278892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 1건 = 1행 · 분류 결과 · 처리 상태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58521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56616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complaint_hits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5661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민원별로 걸린 규칙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58521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434340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complaint_events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971800" y="434340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접수 · 상태 변경 · 메모 · 담임 전달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5120640"/>
            <a:ext cx="585216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12064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notice_plans / sends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2971800" y="512064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가정통신문 계획과 전달 기록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943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학생 이름 + 학년반이 같아야 같은 학생입니다. 진급하면 이력이 끊깁니다.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766560" y="2011680"/>
            <a:ext cx="48920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201168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201168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/api/classify (JSON) · GET /api/notices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766560" y="2788920"/>
            <a:ext cx="48920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49440" y="278892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955280" y="278892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-m agent.complaint.web --llm none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3566160"/>
            <a:ext cx="48920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9440" y="356616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예시 DB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356616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samples/seed_demo_db.py --reset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766560" y="4343400"/>
            <a:ext cx="48920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D9DE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49440" y="4343400"/>
            <a:ext cx="1005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955280" y="434340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pytest 46개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66560" y="5212080"/>
            <a:ext cx="4892040" cy="1097280"/>
          </a:xfrm>
          <a:prstGeom prst="roundRect">
            <a:avLst>
              <a:gd name="adj" fmla="val 8333"/>
            </a:avLst>
          </a:prstGeom>
          <a:solidFill>
            <a:srgbClr val="F9E3E0"/>
          </a:solidFill>
          <a:ln w="9525">
            <a:solidFill>
              <a:srgbClr val="F9E3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49440" y="5212080"/>
            <a:ext cx="4526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B4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보안: 서버는 기본 127.0.0.1에서만 열림 · .env와 DB·out 폴더는 커밋하지 않음 · 로그에 민원 내용을 남기지 않음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학교 민원 분류 에이전트 기능 정리</dc:title>
  <dc:subject>PptxGenJS Presentation</dc:subject>
  <dc:creator>PptxGenJS</dc:creator>
  <cp:lastModifiedBy>PptxGenJS</cp:lastModifiedBy>
  <cp:revision>1</cp:revision>
  <dcterms:created xsi:type="dcterms:W3CDTF">2026-10-30T19:24:09Z</dcterms:created>
  <dcterms:modified xsi:type="dcterms:W3CDTF">2026-10-30T19:24:09Z</dcterms:modified>
</cp:coreProperties>
</file>